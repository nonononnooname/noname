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" cy="54864"/>
          </a:xfrm>
          <a:prstGeom prst="ellipse">
            <a:avLst/>
          </a:prstGeom>
          <a:solidFill>
            <a:srgbClr val="00E5D4">
              <a:alpha val="6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74320"/>
            <a:ext cx="54864" cy="54864"/>
          </a:xfrm>
          <a:prstGeom prst="ellipse">
            <a:avLst/>
          </a:prstGeom>
          <a:solidFill>
            <a:srgbClr val="00E5D4">
              <a:alpha val="5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74320"/>
            <a:ext cx="54864" cy="54864"/>
          </a:xfrm>
          <a:prstGeom prst="ellipse">
            <a:avLst/>
          </a:prstGeom>
          <a:solidFill>
            <a:srgbClr val="00E5D4">
              <a:alpha val="5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274320"/>
            <a:ext cx="54864" cy="54864"/>
          </a:xfrm>
          <a:prstGeom prst="ellipse">
            <a:avLst/>
          </a:prstGeom>
          <a:solidFill>
            <a:srgbClr val="00E5D4">
              <a:alpha val="4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74320"/>
            <a:ext cx="54864" cy="54864"/>
          </a:xfrm>
          <a:prstGeom prst="ellipse">
            <a:avLst/>
          </a:prstGeom>
          <a:solidFill>
            <a:srgbClr val="00E5D4">
              <a:alpha val="4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0" y="27432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594360"/>
            <a:ext cx="54864" cy="54864"/>
          </a:xfrm>
          <a:prstGeom prst="ellipse">
            <a:avLst/>
          </a:prstGeom>
          <a:solidFill>
            <a:srgbClr val="00E5D4">
              <a:alpha val="5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594360"/>
            <a:ext cx="54864" cy="54864"/>
          </a:xfrm>
          <a:prstGeom prst="ellipse">
            <a:avLst/>
          </a:prstGeom>
          <a:solidFill>
            <a:srgbClr val="00E5D4">
              <a:alpha val="5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59436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594360"/>
            <a:ext cx="54864" cy="54864"/>
          </a:xfrm>
          <a:prstGeom prst="ellipse">
            <a:avLst/>
          </a:prstGeom>
          <a:solidFill>
            <a:srgbClr val="00E5D4">
              <a:alpha val="4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594360"/>
            <a:ext cx="54864" cy="54864"/>
          </a:xfrm>
          <a:prstGeom prst="ellipse">
            <a:avLst/>
          </a:prstGeom>
          <a:solidFill>
            <a:srgbClr val="00E5D4">
              <a:alpha val="3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594360"/>
            <a:ext cx="54864" cy="54864"/>
          </a:xfrm>
          <a:prstGeom prst="ellipse">
            <a:avLst/>
          </a:prstGeom>
          <a:solidFill>
            <a:srgbClr val="00E5D4">
              <a:alpha val="3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914400"/>
            <a:ext cx="54864" cy="54864"/>
          </a:xfrm>
          <a:prstGeom prst="ellipse">
            <a:avLst/>
          </a:prstGeom>
          <a:solidFill>
            <a:srgbClr val="00E5D4">
              <a:alpha val="5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914400"/>
            <a:ext cx="54864" cy="54864"/>
          </a:xfrm>
          <a:prstGeom prst="ellipse">
            <a:avLst/>
          </a:prstGeom>
          <a:solidFill>
            <a:srgbClr val="00E5D4">
              <a:alpha val="4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914400"/>
            <a:ext cx="54864" cy="54864"/>
          </a:xfrm>
          <a:prstGeom prst="ellipse">
            <a:avLst/>
          </a:prstGeom>
          <a:solidFill>
            <a:srgbClr val="00E5D4">
              <a:alpha val="4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914400"/>
            <a:ext cx="54864" cy="54864"/>
          </a:xfrm>
          <a:prstGeom prst="ellipse">
            <a:avLst/>
          </a:prstGeom>
          <a:solidFill>
            <a:srgbClr val="00E5D4">
              <a:alpha val="3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914400"/>
            <a:ext cx="54864" cy="54864"/>
          </a:xfrm>
          <a:prstGeom prst="ellipse">
            <a:avLst/>
          </a:prstGeom>
          <a:solidFill>
            <a:srgbClr val="00E5D4">
              <a:alpha val="3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91440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234440"/>
            <a:ext cx="54864" cy="54864"/>
          </a:xfrm>
          <a:prstGeom prst="ellipse">
            <a:avLst/>
          </a:prstGeom>
          <a:solidFill>
            <a:srgbClr val="00E5D4">
              <a:alpha val="5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234440"/>
            <a:ext cx="54864" cy="54864"/>
          </a:xfrm>
          <a:prstGeom prst="ellipse">
            <a:avLst/>
          </a:prstGeom>
          <a:solidFill>
            <a:srgbClr val="00E5D4">
              <a:alpha val="4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23444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234440"/>
            <a:ext cx="54864" cy="54864"/>
          </a:xfrm>
          <a:prstGeom prst="ellipse">
            <a:avLst/>
          </a:prstGeom>
          <a:solidFill>
            <a:srgbClr val="00E5D4">
              <a:alpha val="3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1234440"/>
            <a:ext cx="54864" cy="54864"/>
          </a:xfrm>
          <a:prstGeom prst="ellipse">
            <a:avLst/>
          </a:prstGeom>
          <a:solidFill>
            <a:srgbClr val="00E5D4">
              <a:alpha val="3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1234440"/>
            <a:ext cx="54864" cy="54864"/>
          </a:xfrm>
          <a:prstGeom prst="ellipse">
            <a:avLst/>
          </a:prstGeom>
          <a:solidFill>
            <a:srgbClr val="00E5D4">
              <a:alpha val="2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554480"/>
            <a:ext cx="54864" cy="54864"/>
          </a:xfrm>
          <a:prstGeom prst="ellipse">
            <a:avLst/>
          </a:prstGeom>
          <a:solidFill>
            <a:srgbClr val="00E5D4">
              <a:alpha val="48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1554480"/>
            <a:ext cx="54864" cy="54864"/>
          </a:xfrm>
          <a:prstGeom prst="ellipse">
            <a:avLst/>
          </a:prstGeom>
          <a:solidFill>
            <a:srgbClr val="00E5D4">
              <a:alpha val="4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1554480"/>
            <a:ext cx="54864" cy="54864"/>
          </a:xfrm>
          <a:prstGeom prst="ellipse">
            <a:avLst/>
          </a:prstGeom>
          <a:solidFill>
            <a:srgbClr val="00E5D4">
              <a:alpha val="38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1554480"/>
            <a:ext cx="54864" cy="54864"/>
          </a:xfrm>
          <a:prstGeom prst="ellipse">
            <a:avLst/>
          </a:prstGeom>
          <a:solidFill>
            <a:srgbClr val="00E5D4">
              <a:alpha val="3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554480"/>
            <a:ext cx="54864" cy="54864"/>
          </a:xfrm>
          <a:prstGeom prst="ellipse">
            <a:avLst/>
          </a:prstGeom>
          <a:solidFill>
            <a:srgbClr val="00E5D4">
              <a:alpha val="28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1554480"/>
            <a:ext cx="54864" cy="54864"/>
          </a:xfrm>
          <a:prstGeom prst="ellipse">
            <a:avLst/>
          </a:prstGeom>
          <a:solidFill>
            <a:srgbClr val="00E5D4">
              <a:alpha val="2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1874520"/>
            <a:ext cx="54864" cy="54864"/>
          </a:xfrm>
          <a:prstGeom prst="ellipse">
            <a:avLst/>
          </a:prstGeom>
          <a:solidFill>
            <a:srgbClr val="00E5D4">
              <a:alpha val="4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1874520"/>
            <a:ext cx="54864" cy="54864"/>
          </a:xfrm>
          <a:prstGeom prst="ellipse">
            <a:avLst/>
          </a:prstGeom>
          <a:solidFill>
            <a:srgbClr val="00E5D4">
              <a:alpha val="4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87452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874520"/>
            <a:ext cx="54864" cy="54864"/>
          </a:xfrm>
          <a:prstGeom prst="ellipse">
            <a:avLst/>
          </a:prstGeom>
          <a:solidFill>
            <a:srgbClr val="00E5D4">
              <a:alpha val="3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874520"/>
            <a:ext cx="54864" cy="54864"/>
          </a:xfrm>
          <a:prstGeom prst="ellipse">
            <a:avLst/>
          </a:prstGeom>
          <a:solidFill>
            <a:srgbClr val="00E5D4">
              <a:alpha val="2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8200" y="1874520"/>
            <a:ext cx="54864" cy="54864"/>
          </a:xfrm>
          <a:prstGeom prst="ellipse">
            <a:avLst/>
          </a:prstGeom>
          <a:solidFill>
            <a:srgbClr val="00E5D4">
              <a:alpha val="2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2194560"/>
            <a:ext cx="54864" cy="54864"/>
          </a:xfrm>
          <a:prstGeom prst="ellipse">
            <a:avLst/>
          </a:prstGeom>
          <a:solidFill>
            <a:srgbClr val="00E5D4">
              <a:alpha val="4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2194560"/>
            <a:ext cx="54864" cy="54864"/>
          </a:xfrm>
          <a:prstGeom prst="ellipse">
            <a:avLst/>
          </a:prstGeom>
          <a:solidFill>
            <a:srgbClr val="00E5D4">
              <a:alpha val="3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2194560"/>
            <a:ext cx="54864" cy="54864"/>
          </a:xfrm>
          <a:prstGeom prst="ellipse">
            <a:avLst/>
          </a:prstGeom>
          <a:solidFill>
            <a:srgbClr val="00E5D4">
              <a:alpha val="3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2194560"/>
            <a:ext cx="54864" cy="54864"/>
          </a:xfrm>
          <a:prstGeom prst="ellipse">
            <a:avLst/>
          </a:prstGeom>
          <a:solidFill>
            <a:srgbClr val="00E5D4">
              <a:alpha val="2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2194560"/>
            <a:ext cx="54864" cy="54864"/>
          </a:xfrm>
          <a:prstGeom prst="ellipse">
            <a:avLst/>
          </a:prstGeom>
          <a:solidFill>
            <a:srgbClr val="00E5D4">
              <a:alpha val="2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58200" y="2194560"/>
            <a:ext cx="54864" cy="54864"/>
          </a:xfrm>
          <a:prstGeom prst="ellipse">
            <a:avLst/>
          </a:prstGeom>
          <a:solidFill>
            <a:srgbClr val="00E5D4">
              <a:alpha val="1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2514600"/>
            <a:ext cx="54864" cy="54864"/>
          </a:xfrm>
          <a:prstGeom prst="ellipse">
            <a:avLst/>
          </a:prstGeom>
          <a:solidFill>
            <a:srgbClr val="00E5D4">
              <a:alpha val="3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12280" y="2514600"/>
            <a:ext cx="54864" cy="54864"/>
          </a:xfrm>
          <a:prstGeom prst="ellipse">
            <a:avLst/>
          </a:prstGeom>
          <a:solidFill>
            <a:srgbClr val="00E5D4">
              <a:alpha val="3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51460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35240" y="2514600"/>
            <a:ext cx="54864" cy="54864"/>
          </a:xfrm>
          <a:prstGeom prst="ellipse">
            <a:avLst/>
          </a:prstGeom>
          <a:solidFill>
            <a:srgbClr val="00E5D4">
              <a:alpha val="2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2514600"/>
            <a:ext cx="54864" cy="54864"/>
          </a:xfrm>
          <a:prstGeom prst="ellipse">
            <a:avLst/>
          </a:prstGeom>
          <a:solidFill>
            <a:srgbClr val="00E5D4">
              <a:alpha val="1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58200" y="2514600"/>
            <a:ext cx="54864" cy="54864"/>
          </a:xfrm>
          <a:prstGeom prst="ellipse">
            <a:avLst/>
          </a:prstGeom>
          <a:solidFill>
            <a:srgbClr val="00E5D4">
              <a:alpha val="1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2834640"/>
            <a:ext cx="54864" cy="54864"/>
          </a:xfrm>
          <a:prstGeom prst="ellipse">
            <a:avLst/>
          </a:prstGeom>
          <a:solidFill>
            <a:srgbClr val="00E5D4">
              <a:alpha val="3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12280" y="2834640"/>
            <a:ext cx="54864" cy="54864"/>
          </a:xfrm>
          <a:prstGeom prst="ellipse">
            <a:avLst/>
          </a:prstGeom>
          <a:solidFill>
            <a:srgbClr val="00E5D4">
              <a:alpha val="3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23760" y="2834640"/>
            <a:ext cx="54864" cy="54864"/>
          </a:xfrm>
          <a:prstGeom prst="ellipse">
            <a:avLst/>
          </a:prstGeom>
          <a:solidFill>
            <a:srgbClr val="00E5D4">
              <a:alpha val="2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2834640"/>
            <a:ext cx="54864" cy="54864"/>
          </a:xfrm>
          <a:prstGeom prst="ellipse">
            <a:avLst/>
          </a:prstGeom>
          <a:solidFill>
            <a:srgbClr val="00E5D4">
              <a:alpha val="2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2834640"/>
            <a:ext cx="54864" cy="54864"/>
          </a:xfrm>
          <a:prstGeom prst="ellipse">
            <a:avLst/>
          </a:prstGeom>
          <a:solidFill>
            <a:srgbClr val="00E5D4">
              <a:alpha val="1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58200" y="2834640"/>
            <a:ext cx="54864" cy="54864"/>
          </a:xfrm>
          <a:prstGeom prst="ellipse">
            <a:avLst/>
          </a:prstGeom>
          <a:solidFill>
            <a:srgbClr val="00E5D4">
              <a:alpha val="1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3154680"/>
            <a:ext cx="54864" cy="54864"/>
          </a:xfrm>
          <a:prstGeom prst="ellipse">
            <a:avLst/>
          </a:prstGeom>
          <a:solidFill>
            <a:srgbClr val="00E5D4">
              <a:alpha val="3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12280" y="3154680"/>
            <a:ext cx="54864" cy="54864"/>
          </a:xfrm>
          <a:prstGeom prst="ellipse">
            <a:avLst/>
          </a:prstGeom>
          <a:solidFill>
            <a:srgbClr val="00E5D4">
              <a:alpha val="28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23760" y="3154680"/>
            <a:ext cx="54864" cy="54864"/>
          </a:xfrm>
          <a:prstGeom prst="ellipse">
            <a:avLst/>
          </a:prstGeom>
          <a:solidFill>
            <a:srgbClr val="00E5D4">
              <a:alpha val="2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35240" y="3154680"/>
            <a:ext cx="54864" cy="54864"/>
          </a:xfrm>
          <a:prstGeom prst="ellipse">
            <a:avLst/>
          </a:prstGeom>
          <a:solidFill>
            <a:srgbClr val="00E5D4">
              <a:alpha val="18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46720" y="3154680"/>
            <a:ext cx="54864" cy="54864"/>
          </a:xfrm>
          <a:prstGeom prst="ellipse">
            <a:avLst/>
          </a:prstGeom>
          <a:solidFill>
            <a:srgbClr val="00E5D4">
              <a:alpha val="1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8200" y="3154680"/>
            <a:ext cx="54864" cy="54864"/>
          </a:xfrm>
          <a:prstGeom prst="ellipse">
            <a:avLst/>
          </a:prstGeom>
          <a:solidFill>
            <a:srgbClr val="00E5D4">
              <a:alpha val="8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0" y="3474720"/>
            <a:ext cx="54864" cy="54864"/>
          </a:xfrm>
          <a:prstGeom prst="ellipse">
            <a:avLst/>
          </a:prstGeom>
          <a:solidFill>
            <a:srgbClr val="00E5D4">
              <a:alpha val="3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12280" y="3474720"/>
            <a:ext cx="54864" cy="54864"/>
          </a:xfrm>
          <a:prstGeom prst="ellipse">
            <a:avLst/>
          </a:prstGeom>
          <a:solidFill>
            <a:srgbClr val="00E5D4">
              <a:alpha val="2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23760" y="3474720"/>
            <a:ext cx="54864" cy="54864"/>
          </a:xfrm>
          <a:prstGeom prst="ellipse">
            <a:avLst/>
          </a:prstGeom>
          <a:solidFill>
            <a:srgbClr val="00E5D4">
              <a:alpha val="2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35240" y="3474720"/>
            <a:ext cx="54864" cy="54864"/>
          </a:xfrm>
          <a:prstGeom prst="ellipse">
            <a:avLst/>
          </a:prstGeom>
          <a:solidFill>
            <a:srgbClr val="00E5D4">
              <a:alpha val="1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46720" y="3474720"/>
            <a:ext cx="54864" cy="54864"/>
          </a:xfrm>
          <a:prstGeom prst="ellipse">
            <a:avLst/>
          </a:prstGeom>
          <a:solidFill>
            <a:srgbClr val="00E5D4">
              <a:alpha val="10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58200" y="3474720"/>
            <a:ext cx="54864" cy="54864"/>
          </a:xfrm>
          <a:prstGeom prst="ellipse">
            <a:avLst/>
          </a:prstGeom>
          <a:solidFill>
            <a:srgbClr val="00E5D4">
              <a:alpha val="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0" y="3794760"/>
            <a:ext cx="54864" cy="54864"/>
          </a:xfrm>
          <a:prstGeom prst="ellipse">
            <a:avLst/>
          </a:prstGeom>
          <a:solidFill>
            <a:srgbClr val="00E5D4">
              <a:alpha val="2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12280" y="3794760"/>
            <a:ext cx="54864" cy="54864"/>
          </a:xfrm>
          <a:prstGeom prst="ellipse">
            <a:avLst/>
          </a:prstGeom>
          <a:solidFill>
            <a:srgbClr val="00E5D4">
              <a:alpha val="2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23760" y="3794760"/>
            <a:ext cx="54864" cy="54864"/>
          </a:xfrm>
          <a:prstGeom prst="ellipse">
            <a:avLst/>
          </a:prstGeom>
          <a:solidFill>
            <a:srgbClr val="00E5D4">
              <a:alpha val="1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35240" y="3794760"/>
            <a:ext cx="54864" cy="54864"/>
          </a:xfrm>
          <a:prstGeom prst="ellipse">
            <a:avLst/>
          </a:prstGeom>
          <a:solidFill>
            <a:srgbClr val="00E5D4">
              <a:alpha val="1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46720" y="3794760"/>
            <a:ext cx="54864" cy="54864"/>
          </a:xfrm>
          <a:prstGeom prst="ellipse">
            <a:avLst/>
          </a:prstGeom>
          <a:solidFill>
            <a:srgbClr val="00E5D4">
              <a:alpha val="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458200" y="3794760"/>
            <a:ext cx="54864" cy="54864"/>
          </a:xfrm>
          <a:prstGeom prst="ellipse">
            <a:avLst/>
          </a:prstGeom>
          <a:solidFill>
            <a:srgbClr val="00E5D4">
              <a:alpha val="2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00800" y="4114800"/>
            <a:ext cx="54864" cy="54864"/>
          </a:xfrm>
          <a:prstGeom prst="ellipse">
            <a:avLst/>
          </a:prstGeom>
          <a:solidFill>
            <a:srgbClr val="00E5D4">
              <a:alpha val="2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12280" y="4114800"/>
            <a:ext cx="54864" cy="54864"/>
          </a:xfrm>
          <a:prstGeom prst="ellipse">
            <a:avLst/>
          </a:prstGeom>
          <a:solidFill>
            <a:srgbClr val="00E5D4">
              <a:alpha val="1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23760" y="4114800"/>
            <a:ext cx="54864" cy="54864"/>
          </a:xfrm>
          <a:prstGeom prst="ellipse">
            <a:avLst/>
          </a:prstGeom>
          <a:solidFill>
            <a:srgbClr val="00E5D4">
              <a:alpha val="1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635240" y="4114800"/>
            <a:ext cx="54864" cy="54864"/>
          </a:xfrm>
          <a:prstGeom prst="ellipse">
            <a:avLst/>
          </a:prstGeom>
          <a:solidFill>
            <a:srgbClr val="00E5D4">
              <a:alpha val="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46720" y="4114800"/>
            <a:ext cx="54864" cy="54864"/>
          </a:xfrm>
          <a:prstGeom prst="ellipse">
            <a:avLst/>
          </a:prstGeom>
          <a:solidFill>
            <a:srgbClr val="00E5D4">
              <a:alpha val="4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58200" y="4114800"/>
            <a:ext cx="54864" cy="54864"/>
          </a:xfrm>
          <a:prstGeom prst="ellipse">
            <a:avLst/>
          </a:prstGeom>
          <a:solidFill>
            <a:srgbClr val="00E5D4">
              <a:alpha val="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00800" y="4434840"/>
            <a:ext cx="54864" cy="54864"/>
          </a:xfrm>
          <a:prstGeom prst="ellipse">
            <a:avLst/>
          </a:prstGeom>
          <a:solidFill>
            <a:srgbClr val="00E5D4">
              <a:alpha val="2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12280" y="4434840"/>
            <a:ext cx="54864" cy="54864"/>
          </a:xfrm>
          <a:prstGeom prst="ellipse">
            <a:avLst/>
          </a:prstGeom>
          <a:solidFill>
            <a:srgbClr val="00E5D4">
              <a:alpha val="1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0" y="4434840"/>
            <a:ext cx="54864" cy="54864"/>
          </a:xfrm>
          <a:prstGeom prst="ellipse">
            <a:avLst/>
          </a:prstGeom>
          <a:solidFill>
            <a:srgbClr val="00E5D4">
              <a:alpha val="1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35240" y="4434840"/>
            <a:ext cx="54864" cy="54864"/>
          </a:xfrm>
          <a:prstGeom prst="ellipse">
            <a:avLst/>
          </a:prstGeom>
          <a:solidFill>
            <a:srgbClr val="00E5D4">
              <a:alpha val="6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46720" y="4434840"/>
            <a:ext cx="54864" cy="54864"/>
          </a:xfrm>
          <a:prstGeom prst="ellipse">
            <a:avLst/>
          </a:prstGeom>
          <a:solidFill>
            <a:srgbClr val="00E5D4">
              <a:alpha val="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58200" y="4434840"/>
            <a:ext cx="54864" cy="54864"/>
          </a:xfrm>
          <a:prstGeom prst="ellipse">
            <a:avLst/>
          </a:prstGeom>
          <a:solidFill>
            <a:srgbClr val="00E5D4">
              <a:alpha val="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POST-QUANTUM · LAYER 1 · EVM-COMPATIBLE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57200" y="868680"/>
            <a:ext cx="457200" cy="45720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128016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spc="3000" kern="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14000" dirty="0"/>
          </a:p>
        </p:txBody>
      </p:sp>
      <p:sp>
        <p:nvSpPr>
          <p:cNvPr id="89" name="Text 87"/>
          <p:cNvSpPr/>
          <p:nvPr/>
        </p:nvSpPr>
        <p:spPr>
          <a:xfrm>
            <a:off x="45720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post-quantum L1 for the world after secp256k1.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45720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where it counts. New cryptography everywhere else.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457200" y="4617720"/>
            <a:ext cx="274320" cy="22860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DECK · 2026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943600" y="4709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ML-DSA · ML-KEM · HotStuff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secp256k1 and BLS are no longer safe assumptions.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chain stakes its security on elliptic-curve cryptography that a sufficiently capable quantum adversary breaks. The fix isn't a patch on a live network — it's a network designed around the new primitives from day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697480" cy="19659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54864" cy="196596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889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Harvest-now, decrypt-later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6393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archive today's signatures and ciphertext, waiting for the day curve-DLP falls.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2606040"/>
            <a:ext cx="2697480" cy="19659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7832" y="2606040"/>
            <a:ext cx="54864" cy="196596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7889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BLS is fragile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2152" y="36393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BLS quorums collapse the moment pairing-based assumptions stop holding.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2606040"/>
            <a:ext cx="2697480" cy="19659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2606040"/>
            <a:ext cx="54864" cy="196596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7889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≠ retrofit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6393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Bolting PQ onto secp256k1 chains breaks address schemes, finality, and a decade of tooling.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INTRODUCING ARETH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post-quantum L1 built on battle-tested plumbing.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 is a fork-descendant of Reth — but it is not Reth with PQ patches. We kept Reth's mature execution, storage, trie, txpool, and node-runtime. We replaced every Ethereum protocol surface — consensus, validator transport, transaction auth, RPC, sync, finality — with PQ-secure equivalents.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697480" cy="18288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0"/>
            <a:ext cx="54864" cy="1828800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Quantum-safe by construction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767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signature, key exchange, and consensus message uses NIST-standardized PQ primitives.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2743200"/>
            <a:ext cx="2697480" cy="18288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7832" y="2743200"/>
            <a:ext cx="54864" cy="1828800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9260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where it counts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2152" y="3767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Solidity, tooling, audit lineage, and 20-byte addresses all carry over unchanged.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2743200"/>
            <a:ext cx="2697480" cy="18288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2743200"/>
            <a:ext cx="54864" cy="1828800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9260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3383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HotStuff finality, not Gasper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767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deterministic finality. No reorgs, no proposer-boost games, no waiting.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Reth engineering — kept where it's right.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reinvent storage, the EVM, or the trie. We reinvent every place where Ethereum's cryptographic assumptions live.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4160520" cy="384048"/>
          </a:xfrm>
          <a:prstGeom prst="rect">
            <a:avLst/>
          </a:prstGeom>
          <a:solidFill>
            <a:srgbClr val="232C47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2331720"/>
            <a:ext cx="4160520" cy="384048"/>
          </a:xfrm>
          <a:prstGeom prst="rect">
            <a:avLst/>
          </a:prstGeom>
          <a:solidFill>
            <a:srgbClr val="232C47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3317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5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0720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43784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2807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MDBX storage provider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08152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18104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" y="3081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Merkle-Patricia trie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335584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92424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" y="3355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REVM execution engine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5760" y="363016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66744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3630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pool &amp; fetcher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65760" y="390448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41064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3904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builder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65760" y="417880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15384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77240" y="4178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Snap-style state sync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365760" y="445312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489704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77240" y="4453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runtime &amp; RPC server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617720" y="280720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843784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029200" y="2807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(Gasper → HotStuff)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4617720" y="308152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118104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029200" y="30815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transport (devp2p → PQ session)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4617720" y="335584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392424"/>
            <a:ext cx="164592" cy="16459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029200" y="33558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auth (ECDSA → ML-DSA / FN-DSA)</a:t>
            </a:r>
            <a:endParaRPr lang="en-US" sz="1200" dirty="0"/>
          </a:p>
        </p:txBody>
      </p:sp>
      <p:sp>
        <p:nvSpPr>
          <p:cNvPr id="40" name="Shape 28"/>
          <p:cNvSpPr/>
          <p:nvPr/>
        </p:nvSpPr>
        <p:spPr>
          <a:xfrm>
            <a:off x="4617720" y="363016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666744"/>
            <a:ext cx="164592" cy="16459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029200" y="36301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identity (ENR → ArethNodeId)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4617720" y="390448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3941064"/>
            <a:ext cx="164592" cy="16459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029200" y="3904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 (X25519 → ML-KEM-768)</a:t>
            </a:r>
            <a:endParaRPr lang="en-US" sz="1200" dirty="0"/>
          </a:p>
        </p:txBody>
      </p:sp>
      <p:sp>
        <p:nvSpPr>
          <p:cNvPr id="46" name="Shape 32"/>
          <p:cNvSpPr/>
          <p:nvPr/>
        </p:nvSpPr>
        <p:spPr>
          <a:xfrm>
            <a:off x="4617720" y="417880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0" y="4215384"/>
            <a:ext cx="164592" cy="164592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029200" y="41788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surface (eth_* → areth_*)</a:t>
            </a:r>
            <a:endParaRPr lang="en-US" sz="1200" dirty="0"/>
          </a:p>
        </p:txBody>
      </p:sp>
      <p:sp>
        <p:nvSpPr>
          <p:cNvPr id="49" name="Shape 34"/>
          <p:cNvSpPr/>
          <p:nvPr/>
        </p:nvSpPr>
        <p:spPr>
          <a:xfrm>
            <a:off x="4617720" y="4453128"/>
            <a:ext cx="4160520" cy="237744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4880" y="4489704"/>
            <a:ext cx="164592" cy="164592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5029200" y="4453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 (probabilistic → block-bound)</a:t>
            </a:r>
            <a:endParaRPr lang="en-US" sz="1200" dirty="0"/>
          </a:p>
        </p:txBody>
      </p:sp>
      <p:sp>
        <p:nvSpPr>
          <p:cNvPr id="52" name="Text 36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00" dirty="0"/>
          </a:p>
        </p:txBody>
      </p:sp>
      <p:sp>
        <p:nvSpPr>
          <p:cNvPr id="53" name="Text 37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roles. One PQ secure-session transport.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speaks the same encrypted, ML-KEM-derived transport. What changes is the cargo.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697480" cy="169164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240280"/>
            <a:ext cx="2697480" cy="54864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 records and peer discovery — no validator state, no execution data.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2240280"/>
            <a:ext cx="2697480" cy="169164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7832" y="2240280"/>
            <a:ext cx="2697480" cy="54864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423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execution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02152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block sync, transaction gossip, snap-style state distribution.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2240280"/>
            <a:ext cx="2697480" cy="169164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2240280"/>
            <a:ext cx="2697480" cy="54864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4231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64224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HotStuff proposals, votes, QCs, commits, and finality certificates.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232C47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519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secure-session transport plane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75488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ML-KEM-768 + AES-GCM + ML-DSA binding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areth-* crate map.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areth-crypto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ML-DSA, FN-DSA, ML-KEM-512/768/1024, encrypted keystores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27832" y="182880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82880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areth-primitives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ArethTransaction with PQ auth, EIP-1559, EIP-2718 envelopes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82880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182880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areth-consensus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HotStuff rounds, leader schedule, safety, slashing evidence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8892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areth-network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session codec, AEAD framing, role-aware peer manager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27832" y="278892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278892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areth-storage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0712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Reth-provider extensions for HotStuff metadata and finality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278892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278892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areth-node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Validator/full-client launch, pacemaker, proposal builder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4904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areth-revm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Areth-owned EVM execution surface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27832" y="374904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27832" y="374904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areth-payload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10712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builder with PQ-auth verification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9904" y="3749040"/>
            <a:ext cx="2697480" cy="841248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9904" y="3749040"/>
            <a:ext cx="54864" cy="841248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areth-txpool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72784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pool tuned for PQ signature sizes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HotStuff finality, signed in ML-DSA.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2-chain Jolteon-style HotStuff path — proposal, QC, commit-vote, commit certificate, finality. Block-bound and deterministic, never probabilistic.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" y="2514600"/>
            <a:ext cx="1417320" cy="594360"/>
          </a:xfrm>
          <a:prstGeom prst="rect">
            <a:avLst/>
          </a:prstGeom>
          <a:solidFill>
            <a:srgbClr val="1A2138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2706624"/>
            <a:ext cx="164592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44852" y="2514600"/>
            <a:ext cx="1417320" cy="594360"/>
          </a:xfrm>
          <a:prstGeom prst="rect">
            <a:avLst/>
          </a:prstGeom>
          <a:solidFill>
            <a:srgbClr val="1A2138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4852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706624"/>
            <a:ext cx="164592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863340" y="2514600"/>
            <a:ext cx="1417320" cy="594360"/>
          </a:xfrm>
          <a:prstGeom prst="rect">
            <a:avLst/>
          </a:prstGeom>
          <a:solidFill>
            <a:srgbClr val="1A2138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63340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COMMIT-VOTE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948" y="2706624"/>
            <a:ext cx="164592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1828" y="2514600"/>
            <a:ext cx="1417320" cy="594360"/>
          </a:xfrm>
          <a:prstGeom prst="rect">
            <a:avLst/>
          </a:prstGeom>
          <a:solidFill>
            <a:srgbClr val="1A2138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1828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CERT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36" y="2706624"/>
            <a:ext cx="164592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100316" y="2514600"/>
            <a:ext cx="1417320" cy="594360"/>
          </a:xfrm>
          <a:prstGeom prst="rect">
            <a:avLst/>
          </a:prstGeom>
          <a:solidFill>
            <a:srgbClr val="1A2138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100316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FINALITY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3429000"/>
            <a:ext cx="1975104" cy="11430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65760" y="3547872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⌊2/3⌋+1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365760" y="4133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quorum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487168" y="3429000"/>
            <a:ext cx="1975104" cy="11430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487168" y="3547872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s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2487168" y="4133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round timeout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608576" y="3429000"/>
            <a:ext cx="1975104" cy="11430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608576" y="3547872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 ms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4608576" y="4133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wait, then fallback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729984" y="3429000"/>
            <a:ext cx="1975104" cy="11430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729984" y="3547872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6729984" y="413308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Reorgs once finalized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POST-QUANTUM PRIMITIVES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NIST-standardized, top to bottom.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74520"/>
            <a:ext cx="8412480" cy="411480"/>
          </a:xfrm>
          <a:prstGeom prst="rect">
            <a:avLst/>
          </a:prstGeom>
          <a:solidFill>
            <a:srgbClr val="232C47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PRIMITIVE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02336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authentication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3774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/ FN-DSA — single-key or threshold-of-N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402336"/>
          </a:xfrm>
          <a:prstGeom prst="rect">
            <a:avLst/>
          </a:prstGeom>
          <a:solidFill>
            <a:srgbClr val="131829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163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consensus signatures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81635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— no BLS, no aggregation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55264"/>
            <a:ext cx="8412480" cy="402336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key exchange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2552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8412480" cy="402336"/>
          </a:xfrm>
          <a:prstGeom prst="rect">
            <a:avLst/>
          </a:prstGeom>
          <a:solidFill>
            <a:srgbClr val="131829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941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69417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with replay protection and epoch rekeying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8412480" cy="402336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identity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41330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node key + ML-KEM transport key, bound in ArethNodeId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accounts are first-class today — positional verification now, bitmap and script policies on the roadmap.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EVM. Different signature. Cleaner surface.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411480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EVM-compatible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24505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Nonce, chain id, gas, EIP-1559 fees, access lists, EIP-2718 envelopes, RLP encoding. Solidity tooling carries over.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828800"/>
            <a:ext cx="411480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PQ-derived sender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46320" y="24505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come from keccak(domain || prefixed_key)[12..] — not secp256k1 recovery. Still 20 bytes, still EVM-native.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246120"/>
            <a:ext cx="411480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accounts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4360" y="38679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Threshold-of-N is a first-class auth mode. One account, many devices — no contract gymnastics required.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17720" y="3246120"/>
            <a:ext cx="411480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290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blob theatre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846320" y="38679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transactions and KZG are rejected at the pool boundary. We don't carry data-availability baggage we never agreed to.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finalized?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finality on a healthy network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34930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finalized end-to-end in smoke runs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840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+ full-client topology, verified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41879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confirmations to wait through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834640" cy="27432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783080"/>
            <a:ext cx="2834640" cy="54864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FAIR COMPARISON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timeout is not block interval. Finality is gated on real network and execution time: payload build, proposal, vote quorum, QC, commit-vote quorum, and persistence.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657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Pacemaker backs off to 30s only when the network is genuinely stalled — never as a normal pacing tax.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SHIPS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already wired in.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269748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423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smart contracts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tooling and audit lineage carry over from day one.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27832" y="1828800"/>
            <a:ext cx="269748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423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wallets, single or threshold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56432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Single-key, threshold-of-N, encrypted keystore — all first-class.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9904" y="1828800"/>
            <a:ext cx="269748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0116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2423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Snap-style state sync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18504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areth/snap/1 fast onboarding from a trusted finalized checkpoint.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3246120"/>
            <a:ext cx="269748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290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Finality-gated RPC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94360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clients only serve state proven by a HotStuff finality bundle.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27832" y="3246120"/>
            <a:ext cx="269748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4290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56432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staking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456432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BSC-inspired economics: commission, unbonding, rewards, slashing exposure.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089904" y="3246120"/>
            <a:ext cx="2697480" cy="12801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42900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18504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PQ-signed slashing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318504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Double-vote and double-commit-vote evidence with ML-DSA signatures.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· ON-CHAIN TRADING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PQ L1 to on-chain Hyperliquid.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Hyperliquid proved that the bottleneck on on-chain trading isn't VMs — it's </a:t>
            </a:r>
            <a:pPr indent="0" marL="0">
              <a:buNone/>
            </a:pPr>
            <a:r>
              <a:rPr lang="en-US" sz="1400" b="1" i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finality, fairness, and a sequencer you have to trust</a:t>
            </a:r>
            <a:pPr indent="0" marL="0">
              <a:buNone/>
            </a:pPr>
            <a:r>
              <a:rPr lang="en-US" sz="1400" i="1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Areth dissolves all three.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697480" cy="19659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2697480" cy="54864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889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finality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orders are filled. No 12-block waits, no reorg risk, no optimistic-head confusion.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2606040"/>
            <a:ext cx="2697480" cy="19659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7832" y="2606040"/>
            <a:ext cx="2697480" cy="54864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7889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ARE the sequencer set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2152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Round-leader fan-out. Censorship-resistant via timeout certificates. Slashable for safety violations.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2606040"/>
            <a:ext cx="2697480" cy="196596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2606040"/>
            <a:ext cx="2697480" cy="54864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7889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4224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all the way down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64224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Validator-signed oracles. PQ-signed market data. Verifiable trade tickets from wire to fill.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TRADING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CLOB, not a contract straining at gas.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74520"/>
            <a:ext cx="8412480" cy="384048"/>
          </a:xfrm>
          <a:prstGeom prst="rect">
            <a:avLst/>
          </a:prstGeom>
          <a:solidFill>
            <a:srgbClr val="232C47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1874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1874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8412480" cy="438912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00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3500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precompile. Price-time-priority CLOB per market.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23500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areth-revm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25496"/>
            <a:ext cx="8412480" cy="438912"/>
          </a:xfrm>
          <a:prstGeom prst="rect">
            <a:avLst/>
          </a:prstGeom>
          <a:solidFill>
            <a:srgbClr val="131829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254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transactions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82549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EIP-2718 envelope for orders. PQ-signed end-to-end.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8254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ARETH_TX_ORDER_PQ_TYPE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00984"/>
            <a:ext cx="8412480" cy="438912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009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30098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Perps, spot, dated futures. Validator-signed oracle quorum.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3009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HotStuff quorum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8412480" cy="438912"/>
          </a:xfrm>
          <a:prstGeom prst="rect">
            <a:avLst/>
          </a:prstGeom>
          <a:solidFill>
            <a:srgbClr val="131829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764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377647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Cross/isolated margin, ADL, insurance fund. Solidity-readable.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7764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areth-storage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438912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51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4251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settle in the same finalized block that matched them.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2519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Block-bound finality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wallets that feel like consumer apps.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PQ L1 only matters if a normal user can hold and sign on one. Three surfaces, one cryptographic core.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6974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52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 / fingerprint unlocks a Secure Enclave / StrongBox-isolated worker. The PQ key never leaves cleartext.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7832" y="2240280"/>
            <a:ext cx="26974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852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02152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MetaMask-shaped EIP-1193 provider plus a native areth_* surface for PQ signing and order types.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2240280"/>
            <a:ext cx="26974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423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64224" y="2852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path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64224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Paired-mobile QR handoff today; native ML-DSA firmware on Ledger / Trezor when vendors ship it.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65760" y="3977640"/>
            <a:ext cx="8412480" cy="731520"/>
          </a:xfrm>
          <a:prstGeom prst="rect">
            <a:avLst/>
          </a:prstGeom>
          <a:solidFill>
            <a:srgbClr val="232C47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4864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CRYPTOGRAPHIC CORE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48640" y="42793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ML-DSA-65 default. FN-DSA-512 for compact signatures. Threshold-of-N is first-class. Addresses are still 20 bytes — same UX everywhere.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IS A UX UPGRADE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PQ patch — a new consumer experience.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548640" cy="36576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28800"/>
            <a:ext cx="8412480" cy="777240"/>
          </a:xfrm>
          <a:prstGeom prst="rect">
            <a:avLst/>
          </a:prstGeom>
          <a:solidFill>
            <a:srgbClr val="232C47"/>
          </a:solidFill>
          <a:ln w="12700">
            <a:solidFill>
              <a:srgbClr val="00E5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29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· finalized in 1.2 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126480" y="1828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"pending… 12 confirmations"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834640"/>
            <a:ext cx="2697480" cy="178308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273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 feel like a payment app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HotStuff finality plus finality-gated RPC removes the "is it confirmed yet?" anxiety entirely.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27832" y="2834640"/>
            <a:ext cx="2697480" cy="178308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56432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56432" y="3273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 everywhere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56432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dApp, trading UI, explorer — all key off one 20-byte address. No "Areth vs. Ethereum" mental tax.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89904" y="2834640"/>
            <a:ext cx="2697480" cy="1783080"/>
          </a:xfrm>
          <a:prstGeom prst="rect">
            <a:avLst/>
          </a:prstGeom>
          <a:solidFill>
            <a:srgbClr val="1A2138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18504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18504" y="3273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Quantum-safe from day one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18504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"we'll migrate later." The migration is the network.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00E5D4">
              <a:alpha val="6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54864" cy="54864"/>
          </a:xfrm>
          <a:prstGeom prst="ellipse">
            <a:avLst/>
          </a:prstGeom>
          <a:solidFill>
            <a:srgbClr val="00E5D4">
              <a:alpha val="5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4320"/>
            <a:ext cx="54864" cy="54864"/>
          </a:xfrm>
          <a:prstGeom prst="ellipse">
            <a:avLst/>
          </a:prstGeom>
          <a:solidFill>
            <a:srgbClr val="00E5D4">
              <a:alpha val="5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7432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7432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548640"/>
            <a:ext cx="54864" cy="54864"/>
          </a:xfrm>
          <a:prstGeom prst="ellipse">
            <a:avLst/>
          </a:prstGeom>
          <a:solidFill>
            <a:srgbClr val="00E5D4">
              <a:alpha val="5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548640"/>
            <a:ext cx="54864" cy="54864"/>
          </a:xfrm>
          <a:prstGeom prst="ellipse">
            <a:avLst/>
          </a:prstGeom>
          <a:solidFill>
            <a:srgbClr val="00E5D4">
              <a:alpha val="5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4864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54864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54864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822960"/>
            <a:ext cx="54864" cy="54864"/>
          </a:xfrm>
          <a:prstGeom prst="ellipse">
            <a:avLst/>
          </a:prstGeom>
          <a:solidFill>
            <a:srgbClr val="00E5D4">
              <a:alpha val="5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82296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82296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82296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82296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09728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109728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109728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109728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1097280"/>
            <a:ext cx="54864" cy="54864"/>
          </a:xfrm>
          <a:prstGeom prst="ellipse">
            <a:avLst/>
          </a:prstGeom>
          <a:solidFill>
            <a:srgbClr val="00E5D4">
              <a:alpha val="2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37160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137160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137160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1371600"/>
            <a:ext cx="54864" cy="54864"/>
          </a:xfrm>
          <a:prstGeom prst="ellipse">
            <a:avLst/>
          </a:prstGeom>
          <a:solidFill>
            <a:srgbClr val="00E5D4">
              <a:alpha val="2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1371600"/>
            <a:ext cx="54864" cy="54864"/>
          </a:xfrm>
          <a:prstGeom prst="ellipse">
            <a:avLst/>
          </a:prstGeom>
          <a:solidFill>
            <a:srgbClr val="00E5D4">
              <a:alpha val="1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00E5D4">
              <a:alpha val="5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74320"/>
            <a:ext cx="54864" cy="54864"/>
          </a:xfrm>
          <a:prstGeom prst="ellipse">
            <a:avLst/>
          </a:prstGeom>
          <a:solidFill>
            <a:srgbClr val="00E5D4">
              <a:alpha val="5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274320"/>
            <a:ext cx="54864" cy="54864"/>
          </a:xfrm>
          <a:prstGeom prst="ellipse">
            <a:avLst/>
          </a:prstGeom>
          <a:solidFill>
            <a:srgbClr val="00E5D4">
              <a:alpha val="6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54864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54864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548640"/>
            <a:ext cx="54864" cy="54864"/>
          </a:xfrm>
          <a:prstGeom prst="ellipse">
            <a:avLst/>
          </a:prstGeom>
          <a:solidFill>
            <a:srgbClr val="00E5D4">
              <a:alpha val="5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548640"/>
            <a:ext cx="54864" cy="54864"/>
          </a:xfrm>
          <a:prstGeom prst="ellipse">
            <a:avLst/>
          </a:prstGeom>
          <a:solidFill>
            <a:srgbClr val="00E5D4">
              <a:alpha val="5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82296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82296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55280" y="82296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82296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0" y="822960"/>
            <a:ext cx="54864" cy="54864"/>
          </a:xfrm>
          <a:prstGeom prst="ellipse">
            <a:avLst/>
          </a:prstGeom>
          <a:solidFill>
            <a:srgbClr val="00E5D4">
              <a:alpha val="5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06640" y="1097280"/>
            <a:ext cx="54864" cy="54864"/>
          </a:xfrm>
          <a:prstGeom prst="ellipse">
            <a:avLst/>
          </a:prstGeom>
          <a:solidFill>
            <a:srgbClr val="00E5D4">
              <a:alpha val="2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80960" y="109728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55280" y="109728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109728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1097280"/>
            <a:ext cx="54864" cy="54864"/>
          </a:xfrm>
          <a:prstGeom prst="ellipse">
            <a:avLst/>
          </a:prstGeom>
          <a:solidFill>
            <a:srgbClr val="00E5D4">
              <a:alpha val="4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1371600"/>
            <a:ext cx="54864" cy="54864"/>
          </a:xfrm>
          <a:prstGeom prst="ellipse">
            <a:avLst/>
          </a:prstGeom>
          <a:solidFill>
            <a:srgbClr val="00E5D4">
              <a:alpha val="17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80960" y="1371600"/>
            <a:ext cx="54864" cy="54864"/>
          </a:xfrm>
          <a:prstGeom prst="ellipse">
            <a:avLst/>
          </a:prstGeom>
          <a:solidFill>
            <a:srgbClr val="00E5D4">
              <a:alpha val="23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00E5D4">
              <a:alpha val="29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1371600"/>
            <a:ext cx="54864" cy="54864"/>
          </a:xfrm>
          <a:prstGeom prst="ellipse">
            <a:avLst/>
          </a:prstGeom>
          <a:solidFill>
            <a:srgbClr val="00E5D4">
              <a:alpha val="35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1371600"/>
            <a:ext cx="54864" cy="54864"/>
          </a:xfrm>
          <a:prstGeom prst="ellipse">
            <a:avLst/>
          </a:prstGeom>
          <a:solidFill>
            <a:srgbClr val="00E5D4">
              <a:alpha val="41000"/>
            </a:srgbClr>
          </a:solidFill>
          <a:ln w="12700">
            <a:solidFill>
              <a:srgbClr val="00E5D4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PITCH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89120" y="1143000"/>
            <a:ext cx="365760" cy="45720"/>
          </a:xfrm>
          <a:prstGeom prst="rect">
            <a:avLst/>
          </a:prstGeom>
          <a:solidFill>
            <a:srgbClr val="00E5D4"/>
          </a:solidFill>
          <a:ln w="12700">
            <a:solidFill>
              <a:srgbClr val="00E5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16002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Areth is what Ethereum's execution stack would look like
</a:t>
            </a:r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replaced every signature, key exchange, and consensus message
</a:t>
            </a:r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NIST-standardized post-quantum primitives —
</a:t>
            </a:r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bolted it onto HotStuff finality instead of Gasper —
</a:t>
            </a:r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throwing away a decade of Reth engineering.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57200" y="4069080"/>
            <a:ext cx="8229600" cy="36576"/>
          </a:xfrm>
          <a:prstGeom prst="rect">
            <a:avLst/>
          </a:prstGeom>
          <a:solidFill>
            <a:srgbClr val="2A3454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where it counts.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6344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E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cryptography everywhere else.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A72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 · POST-QUANTUM L1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E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areth.network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Areth — Post-Quantum L1</dc:title>
  <dc:subject>PptxGenJS Presentation</dc:subject>
  <dc:creator>Areth</dc:creator>
  <cp:lastModifiedBy>Areth</cp:lastModifiedBy>
  <cp:revision>1</cp:revision>
  <dcterms:created xsi:type="dcterms:W3CDTF">2026-05-25T18:03:42Z</dcterms:created>
  <dcterms:modified xsi:type="dcterms:W3CDTF">2026-05-25T18:03:42Z</dcterms:modified>
</cp:coreProperties>
</file>